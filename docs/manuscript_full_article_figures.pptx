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researchers as the next coal: transition rates, minimum viable research communities and the preservation of variety in global AI/ML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Data-driven manuscript figures and tables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Figure 1: Research macro-regions and inter-region flows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pic>
        <p:nvPicPr>
          <p:cNvPr id="5" name="Picture 4" descr="fig1_macro_region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9144000" cy="478301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71600" y="54864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Countries coloured by research macro-region; arrows show the 12 largest observed inter-region early-career flows (width proportional to accumulated abroad author-years). Legend gives equilibrium T/M.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Figure 2: Compartment model (image)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pic>
        <p:nvPicPr>
          <p:cNvPr id="5" name="Picture 4" descr="fig2_compartment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9144000" cy="465512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71600" y="54864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Six compartments per macro-region with transition rates, endogenous recruitment from the domestic PI stock, dropout from every compartment and the threshold test T versus 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Figure 2 (editable shapes): Compartment model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029968" y="2108606"/>
            <a:ext cx="1828800" cy="1005840"/>
          </a:xfrm>
          <a:prstGeom prst="roundRect">
            <a:avLst/>
          </a:prstGeom>
          <a:solidFill>
            <a:srgbClr val="E6F2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600" b="1">
                <a:solidFill>
                  <a:srgbClr val="000000"/>
                </a:solidFill>
              </a:rPr>
              <a:t>D</a:t>
            </a:r>
          </a:p>
          <a:p>
            <a:r>
              <a:rPr sz="1000">
                <a:solidFill>
                  <a:srgbClr val="333333"/>
                </a:solidFill>
              </a:rPr>
              <a:t>Domestic early-career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47488" y="2108606"/>
            <a:ext cx="1828800" cy="1005840"/>
          </a:xfrm>
          <a:prstGeom prst="roundRect">
            <a:avLst/>
          </a:prstGeom>
          <a:solidFill>
            <a:srgbClr val="E6F2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600" b="1">
                <a:solidFill>
                  <a:srgbClr val="000000"/>
                </a:solidFill>
              </a:rPr>
              <a:t>H</a:t>
            </a:r>
            <a:r>
              <a:rPr sz="1600" b="1" baseline="-25000">
                <a:solidFill>
                  <a:srgbClr val="000000"/>
                </a:solidFill>
              </a:rPr>
              <a:t>D</a:t>
            </a:r>
          </a:p>
          <a:p>
            <a:r>
              <a:rPr sz="1000">
                <a:solidFill>
                  <a:srgbClr val="333333"/>
                </a:solidFill>
              </a:rPr>
              <a:t>Domestic hit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65008" y="2108606"/>
            <a:ext cx="1828800" cy="1005840"/>
          </a:xfrm>
          <a:prstGeom prst="roundRect">
            <a:avLst/>
          </a:prstGeom>
          <a:solidFill>
            <a:srgbClr val="E6F2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600" b="1">
                <a:solidFill>
                  <a:srgbClr val="000000"/>
                </a:solidFill>
              </a:rPr>
              <a:t>P</a:t>
            </a:r>
            <a:r>
              <a:rPr sz="1600" b="1" baseline="-25000">
                <a:solidFill>
                  <a:srgbClr val="000000"/>
                </a:solidFill>
              </a:rPr>
              <a:t>D</a:t>
            </a:r>
          </a:p>
          <a:p>
            <a:r>
              <a:rPr sz="1000">
                <a:solidFill>
                  <a:srgbClr val="333333"/>
                </a:solidFill>
              </a:rPr>
              <a:t>Domestic PI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29968" y="4200753"/>
            <a:ext cx="1828800" cy="1005840"/>
          </a:xfrm>
          <a:prstGeom prst="roundRect">
            <a:avLst/>
          </a:prstGeom>
          <a:solidFill>
            <a:srgbClr val="FFF4E6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600" b="1">
                <a:solidFill>
                  <a:srgbClr val="000000"/>
                </a:solidFill>
              </a:rPr>
              <a:t>A</a:t>
            </a:r>
          </a:p>
          <a:p>
            <a:r>
              <a:rPr sz="1000">
                <a:solidFill>
                  <a:srgbClr val="333333"/>
                </a:solidFill>
              </a:rPr>
              <a:t>Abroad early-career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47488" y="4200753"/>
            <a:ext cx="1828800" cy="1005840"/>
          </a:xfrm>
          <a:prstGeom prst="roundRect">
            <a:avLst/>
          </a:prstGeom>
          <a:solidFill>
            <a:srgbClr val="FFF4E6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600" b="1">
                <a:solidFill>
                  <a:srgbClr val="000000"/>
                </a:solidFill>
              </a:rPr>
              <a:t>H</a:t>
            </a:r>
            <a:r>
              <a:rPr sz="1600" b="1" baseline="-25000">
                <a:solidFill>
                  <a:srgbClr val="000000"/>
                </a:solidFill>
              </a:rPr>
              <a:t>A</a:t>
            </a:r>
          </a:p>
          <a:p>
            <a:r>
              <a:rPr sz="1000">
                <a:solidFill>
                  <a:srgbClr val="333333"/>
                </a:solidFill>
              </a:rPr>
              <a:t>Abroad hit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5008" y="4200753"/>
            <a:ext cx="1828800" cy="1005840"/>
          </a:xfrm>
          <a:prstGeom prst="roundRect">
            <a:avLst/>
          </a:prstGeom>
          <a:solidFill>
            <a:srgbClr val="FFF4E6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600" b="1">
                <a:solidFill>
                  <a:srgbClr val="000000"/>
                </a:solidFill>
              </a:rPr>
              <a:t>P</a:t>
            </a:r>
            <a:r>
              <a:rPr sz="1600" b="1" baseline="-25000">
                <a:solidFill>
                  <a:srgbClr val="000000"/>
                </a:solidFill>
              </a:rPr>
              <a:t>A</a:t>
            </a:r>
          </a:p>
          <a:p>
            <a:r>
              <a:rPr sz="1000">
                <a:solidFill>
                  <a:srgbClr val="333333"/>
                </a:solidFill>
              </a:rPr>
              <a:t>Abroad PI</a:t>
            </a:r>
          </a:p>
        </p:txBody>
      </p:sp>
      <p:cxnSp>
        <p:nvCxnSpPr>
          <p:cNvPr id="9" name="Connector 8"/>
          <p:cNvCxnSpPr>
            <a:stCxn id="3" idx="2"/>
            <a:endCxn id="6" idx="0"/>
          </p:cNvCxnSpPr>
          <p:nvPr/>
        </p:nvCxnSpPr>
        <p:spPr>
          <a:xfrm flipH="1">
            <a:off x="2944368" y="3114446"/>
            <a:ext cx="0" cy="1086307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670048" y="3337559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α ↓  β ↑</a:t>
            </a:r>
          </a:p>
        </p:txBody>
      </p:sp>
      <p:cxnSp>
        <p:nvCxnSpPr>
          <p:cNvPr id="11" name="Connector 10"/>
          <p:cNvCxnSpPr>
            <a:stCxn id="3" idx="3"/>
            <a:endCxn id="4" idx="1"/>
          </p:cNvCxnSpPr>
          <p:nvPr/>
        </p:nvCxnSpPr>
        <p:spPr>
          <a:xfrm flipV="1">
            <a:off x="3858768" y="2611526"/>
            <a:ext cx="1188720" cy="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178808" y="2291486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h_D</a:t>
            </a:r>
          </a:p>
        </p:txBody>
      </p:sp>
      <p:cxnSp>
        <p:nvCxnSpPr>
          <p:cNvPr id="13" name="Connector 12"/>
          <p:cNvCxnSpPr>
            <a:stCxn id="6" idx="3"/>
            <a:endCxn id="7" idx="1"/>
          </p:cNvCxnSpPr>
          <p:nvPr/>
        </p:nvCxnSpPr>
        <p:spPr>
          <a:xfrm flipV="1">
            <a:off x="3858768" y="4703673"/>
            <a:ext cx="1188720" cy="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178808" y="4383633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h_A</a:t>
            </a:r>
          </a:p>
        </p:txBody>
      </p:sp>
      <p:cxnSp>
        <p:nvCxnSpPr>
          <p:cNvPr id="15" name="Connector 14"/>
          <p:cNvCxnSpPr>
            <a:stCxn id="7" idx="0"/>
            <a:endCxn id="4" idx="2"/>
          </p:cNvCxnSpPr>
          <p:nvPr/>
        </p:nvCxnSpPr>
        <p:spPr>
          <a:xfrm flipH="1" flipV="1">
            <a:off x="5961888" y="3114446"/>
            <a:ext cx="0" cy="1086307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687568" y="3337559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β</a:t>
            </a:r>
          </a:p>
        </p:txBody>
      </p:sp>
      <p:cxnSp>
        <p:nvCxnSpPr>
          <p:cNvPr id="17" name="Connector 16"/>
          <p:cNvCxnSpPr>
            <a:stCxn id="4" idx="3"/>
            <a:endCxn id="5" idx="1"/>
          </p:cNvCxnSpPr>
          <p:nvPr/>
        </p:nvCxnSpPr>
        <p:spPr>
          <a:xfrm flipV="1">
            <a:off x="6876288" y="2611526"/>
            <a:ext cx="1188720" cy="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196328" y="2291486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p_D</a:t>
            </a:r>
          </a:p>
        </p:txBody>
      </p:sp>
      <p:cxnSp>
        <p:nvCxnSpPr>
          <p:cNvPr id="19" name="Connector 18"/>
          <p:cNvCxnSpPr>
            <a:stCxn id="7" idx="3"/>
            <a:endCxn id="8" idx="1"/>
          </p:cNvCxnSpPr>
          <p:nvPr/>
        </p:nvCxnSpPr>
        <p:spPr>
          <a:xfrm flipV="1">
            <a:off x="6876288" y="4703673"/>
            <a:ext cx="1188720" cy="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196328" y="4383633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p_A</a:t>
            </a:r>
          </a:p>
        </p:txBody>
      </p:sp>
      <p:cxnSp>
        <p:nvCxnSpPr>
          <p:cNvPr id="21" name="Connector 20"/>
          <p:cNvCxnSpPr>
            <a:stCxn id="8" idx="0"/>
            <a:endCxn id="5" idx="2"/>
          </p:cNvCxnSpPr>
          <p:nvPr/>
        </p:nvCxnSpPr>
        <p:spPr>
          <a:xfrm flipH="1" flipV="1">
            <a:off x="8979408" y="3114446"/>
            <a:ext cx="0" cy="1086307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705088" y="3337559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146304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1F77B4"/>
                </a:solidFill>
              </a:rPr>
              <a:t>Inflow I(P_D) = I_0 + r·P_D</a:t>
            </a:r>
          </a:p>
        </p:txBody>
      </p:sp>
      <p:cxnSp>
        <p:nvCxnSpPr>
          <p:cNvPr id="24" name="Connector 23"/>
          <p:cNvCxnSpPr>
            <a:stCxn id="5" idx="0"/>
            <a:endCxn id="3" idx="0"/>
          </p:cNvCxnSpPr>
          <p:nvPr/>
        </p:nvCxnSpPr>
        <p:spPr>
          <a:xfrm flipH="1" flipV="1">
            <a:off x="2944368" y="2108606"/>
            <a:ext cx="6035040" cy="0"/>
          </a:xfrm>
          <a:prstGeom prst="curvedConnector3">
            <a:avLst/>
          </a:prstGeom>
          <a:ln w="19050">
            <a:prstDash val="dash"/>
            <a:solidFill>
              <a:srgbClr val="1F77B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687568" y="1788566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r (feedback)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3520440"/>
            <a:ext cx="5943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Active pool T = D + H_D + P_D compared with M = k·c̄;  d = dropout from every compartment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Figure 3: Equilibrium T vs minimum viable threshold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pic>
        <p:nvPicPr>
          <p:cNvPr id="5" name="Picture 4" descr="fig1_equilibrium_mar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9144000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71600" y="54864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Blue bars: equilibrium T; orange bars: threshold M. All groups remain above the threshold, but margins vary widely.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Figure 4: Closest point-of-no-return proximity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pic>
        <p:nvPicPr>
          <p:cNvPr id="5" name="Picture 4" descr="fig2_pnr_proxim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9144000" cy="508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71600" y="54864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Smaller values mean a smaller proportional change in the listed rate is required to reach the threshold for the stated target pool.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Figure 5: Historical counterfactual margin change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pic>
        <p:nvPicPr>
          <p:cNvPr id="5" name="Picture 4" descr="fig3_historical_mar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9144000" cy="508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71600" y="54864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Positive values mean the late-window rates would produce a larger safety margin than the early-window rates if they persisted; negative values mean the margin would shrink. The comparison is across point estimates; uncertainty is substantial.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Figure 6: Bootstrap 95% CI for equilibrium 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pic>
        <p:nvPicPr>
          <p:cNvPr id="5" name="Picture 4" descr="fig4_bootstrap_c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9144000" cy="500755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71600" y="54864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Intervals are asymmetric and wide, reflecting model uncertainty.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 1: Descriptive cohort statistics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9509760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188720"/>
                <a:gridCol w="1188720"/>
                <a:gridCol w="1188720"/>
                <a:gridCol w="1188720"/>
                <a:gridCol w="1188720"/>
                <a:gridCol w="1188720"/>
                <a:gridCol w="1188720"/>
              </a:tblGrid>
              <a:tr h="548640">
                <a:tc>
                  <a:txBody>
                    <a:bodyPr/>
                    <a:lstStyle/>
                    <a:p>
                      <a:r>
                        <a:t>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career_start_mean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abroad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Anglosphere ex-US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64122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700342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28218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35822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43628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2007.3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16233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China-centred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190051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1589023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103673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61738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140701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2008.7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23956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Continental Europe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168911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1766329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74004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90322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111466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2008.0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26060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Islamic world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51043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387001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29703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20435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35558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2011.4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8131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Japan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32007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293437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11846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9915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18543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2006.7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4417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Other Western (Israel)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4397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49748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1981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2646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2848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2007.4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1414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Other regions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50240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371952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23671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17128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32449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2009.2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9136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South Asia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28069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225684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17047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12043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19185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2011.3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4289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United States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134807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1298250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58969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74972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91029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2007.3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27420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 2: Equilibrium and inflow parameters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11109960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1234440"/>
                <a:gridCol w="1234440"/>
                <a:gridCol w="1234440"/>
                <a:gridCol w="1234440"/>
                <a:gridCol w="1234440"/>
                <a:gridCol w="1234440"/>
                <a:gridCol w="1234440"/>
                <a:gridCol w="1234440"/>
              </a:tblGrid>
              <a:tr h="548640">
                <a:tc>
                  <a:txBody>
                    <a:bodyPr/>
                    <a:lstStyle/>
                    <a:p>
                      <a:r>
                        <a:t>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T_eq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Margin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T/M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r_obs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r_crit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Anglosphere ex-US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67532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3183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64348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1885.94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0.08646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0.12652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21.21312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Continental Europe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195095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3923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191172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4967.97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0.08914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0.11899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49.72481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South Asia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53434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2249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51185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825.56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0.08606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0.05457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23.76054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Islamic world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88522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2255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86267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1501.26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0.08444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0.06352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39.26079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Japan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29332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1793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27539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1134.41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0.10154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0.25545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16.36230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Other regions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59355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57286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1477.65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0.09108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0.13240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28.68812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Other Western (Israel)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4824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1601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3223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129.32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0.09082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0.11984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3.01286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China-centred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303935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3129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300805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5589.74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0.07946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0.08399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97.12154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United States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147067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1844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145223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3964.91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0.08711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0.12404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79.75137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 3: Top transition-rate elasticities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8961119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59"/>
                <a:gridCol w="1280159"/>
                <a:gridCol w="1280159"/>
                <a:gridCol w="1280159"/>
                <a:gridCol w="1280159"/>
                <a:gridCol w="1280159"/>
                <a:gridCol w="1280165"/>
              </a:tblGrid>
              <a:tr h="548640">
                <a:tc>
                  <a:txBody>
                    <a:bodyPr/>
                    <a:lstStyle/>
                    <a:p>
                      <a:r>
                        <a:t>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el1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el2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el3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Anglosphere ex-US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-2.680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h_D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0.466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p_D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0.341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China-centred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-2.685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h_D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0.397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p_D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0.257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Continental Europe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-2.681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h_D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0.393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p_D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0.355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Islamic world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-2.579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h_D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0.373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p_D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0.220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Japan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-2.274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h_D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0.393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p_D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0.274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Other Western (Israel)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-2.744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h_D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0.373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p_D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0.352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Other regions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-2.790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h_D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0.486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p_D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0.314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South Asia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-2.535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h_D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0.341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p_D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0.212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United States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-2.665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h_D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0.445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p_D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0.357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 4: Closest point of no return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9875520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  <a:gridCol w="1645920"/>
              </a:tblGrid>
              <a:tr h="548640">
                <a:tc>
                  <a:txBody>
                    <a:bodyPr/>
                    <a:lstStyle/>
                    <a:p>
                      <a:r>
                        <a:t>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Current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Crit.factor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Proximity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Other Western (Israel)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domestic_active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129.3235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0.332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0.668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Japan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domestic_active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1134.4064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0.939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Anglosphere ex-US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domestic_active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1885.9412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0.953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South Asia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domestic_active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825.5588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0.958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Other regions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domestic_active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1477.6471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0.965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Islamic world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domestic_active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1501.2647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0.975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Continental Europe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domestic_active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4967.9706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0.980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United States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domestic_active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3964.9118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0.987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China-centred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domestic_active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5589.7353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0.990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 5: Saturating inflow extension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7315200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548640">
                <a:tc>
                  <a:txBody>
                    <a:bodyPr/>
                    <a:lstStyle/>
                    <a:p>
                      <a:r>
                        <a:t>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Linear 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Saturating 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ε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Anglosphere ex-US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67532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67532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0.00000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Continental Europe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195095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195095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0.00000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South Asia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53434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53434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0.00001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Islamic world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88522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88522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0.00001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Japan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29332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29332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0.00001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Other regions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59355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59355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0.00001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Other Western (Israel)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4824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4824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0.00007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China-centred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303935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303935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0.00000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United States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147067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147067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0.00000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 6: Historical counterfactual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15361919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59"/>
                <a:gridCol w="1280159"/>
                <a:gridCol w="1280159"/>
                <a:gridCol w="1280159"/>
                <a:gridCol w="1280159"/>
                <a:gridCol w="1280159"/>
                <a:gridCol w="1280159"/>
                <a:gridCol w="1280159"/>
                <a:gridCol w="1280159"/>
                <a:gridCol w="1280159"/>
                <a:gridCol w="1280159"/>
                <a:gridCol w="1280170"/>
              </a:tblGrid>
              <a:tr h="548640">
                <a:tc>
                  <a:txBody>
                    <a:bodyPr/>
                    <a:lstStyle/>
                    <a:p>
                      <a:r>
                        <a:t>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n_early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n_late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 early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 late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delta_T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ΔT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M_early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M_late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Margin early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Margin late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Δ margin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Anglosphere ex-US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43768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20354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64779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75245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10466.24081387803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16.2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3183.492021276596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3183.492021276596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61596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72062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10466.2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Continental Europe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108135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60776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177460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231958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54498.35893829615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3923.499485066941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3923.499485066941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173536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228035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54498.4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South Asia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9597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18472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23397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110377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86979.76895846531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371.8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2248.8695652173915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2248.8695652173915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21148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108128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86979.8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Islamic world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17844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33199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37899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186245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148346.09206152224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391.4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2254.7179487179487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2254.7179487179487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35644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183990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148346.1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Japan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23436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8571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31781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25052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-6729.546240558848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-21.2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1792.6470588235293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1792.6470588235293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29989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23259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-6729.5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Other regions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26938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23302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42881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91930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49049.28906658018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114.4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2068.969696969697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2068.969696969697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40812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89861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49049.3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Other Western (Israel)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2932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1465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4450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5731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1280.2210739433294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28.8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1601.2173913043478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1601.2173913043478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2849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4129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1280.2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China-centred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122490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67561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278159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360991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82831.4132198458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29.8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3129.4270557029176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3129.4270557029176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275030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357861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82831.4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United States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92684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42123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139401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169788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30386.48166319204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21.8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1844.0637813211845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1844.0637813211845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137557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167943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30386.5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 7: Top policy intervention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10972800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  <a:gridCol w="1828800"/>
                <a:gridCol w="1828800"/>
              </a:tblGrid>
              <a:tr h="548640">
                <a:tc>
                  <a:txBody>
                    <a:bodyPr/>
                    <a:lstStyle/>
                    <a:p>
                      <a:r>
                        <a:t>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Lever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Direction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Change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Margin gain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Gain per 10%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Anglosphere ex-US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decrease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7660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7659.7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Continental Europe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decrease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22093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22093.1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South Asia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decrease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6184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6184.2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Islamic world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decrease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10239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10238.9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Japan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decrease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3194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3193.8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Other regions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decrease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6723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6723.1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Other Western (Israel)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decrease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567.3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China-centred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decrease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34739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34739.2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United States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decrease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16560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16560.4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 9: Transition levers, policy instruments and principal actors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6035040" cy="3291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</a:tblGrid>
              <a:tr h="548639">
                <a:tc>
                  <a:txBody>
                    <a:bodyPr/>
                    <a:lstStyle/>
                    <a:p>
                      <a:r>
                        <a:t>Lever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Policy instrument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Management action</a:t>
                      </a:r>
                    </a:p>
                  </a:txBody>
                  <a:tcPr/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Dropout (d)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Early-career fellowships, childcare and dual-career support, stable non-tenure tracks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Retain researchers in the domestic pipeline beyond the first career years</a:t>
                      </a:r>
                    </a:p>
                  </a:txBody>
                  <a:tcPr/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Exogenous entry (I_0)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Research-master and undergraduate pipelines, doctoral fellowships, recruitment visas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Widen the base of incoming researchers before they select a field or location</a:t>
                      </a:r>
                    </a:p>
                  </a:txBody>
                  <a:tcPr/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Return from abroad (β)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Return grants, diaspora networks, dual appointments, overseas-experience recognition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Encourage mobile researchers to re-establish domestic research groups</a:t>
                      </a:r>
                    </a:p>
                  </a:txBody>
                  <a:tcPr/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Domestic hit generation (h_D)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Independent-lab programmes (e.g. SPREAD-style), doctoral/postdoctoral training, compute access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Translate junior capacity into visible, high-impact work and independent research lines</a:t>
                      </a:r>
                    </a:p>
                  </a:txBody>
                  <a:tcPr/>
                </a:tc>
              </a:tr>
              <a:tr h="548644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PI promotion (p_D)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Tenure-track conversion, startup packages, project-based PI 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Create durable principal-investigator positions that train the next cohort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Figure 7: Japan compartment model and cross-region transition-rate ladders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pic>
        <p:nvPicPr>
          <p:cNvPr id="5" name="Picture 4" descr="fig8_japan_compartment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9144000" cy="504367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71600" y="54864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Left: Japan's six compartments; right: Japan highlighted against other macro-regions on each transition rate.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Figure 8: T/M safety margin versus closest PNR proximity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pic>
        <p:nvPicPr>
          <p:cNvPr id="5" name="Picture 4" descr="fig9_tm_pnr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9144000" cy="711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71600" y="54864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Lower-left points are the most fragile. Japan is highlighted in red.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Figure 9: Talent-concentration scenario (coupled nine-region model)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pic>
        <p:nvPicPr>
          <p:cNvPr id="5" name="Picture 4" descr="fig12_dominant_strate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9144000" cy="665018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71600" y="54864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(a) hosted pool of the dominant region; (b) effective number of macro-regions; (c) field hit stock for three variety elasticities; (d) elasticity threshold for a net loss. Pull intensity and variety elasticity are stylised.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Figure 10: Regional time paths under the talent-concentration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pic>
        <p:nvPicPr>
          <p:cNvPr id="5" name="Picture 4" descr="fig13_dominant_strategy_reg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9144000" cy="319314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71600" y="54864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Domestic active pool of each macro-region as a multiple of its minimum viable scale M, one panel per variety elasticity; time in units of the characteristic time τ = 1/d̄; crosses mark when a region falls below M and loses PI-driven recruitment permanently.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 8: Talent-concentration scenario at the end of the horizon (fitted rates, γ = 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11521440" cy="603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280160"/>
                <a:gridCol w="1280160"/>
                <a:gridCol w="1280160"/>
                <a:gridCol w="1280160"/>
                <a:gridCol w="1280160"/>
                <a:gridCol w="1280160"/>
                <a:gridCol w="1280160"/>
                <a:gridCol w="1280160"/>
              </a:tblGrid>
              <a:tr h="548640">
                <a:tc>
                  <a:txBody>
                    <a:bodyPr/>
                    <a:lstStyle/>
                    <a:p>
                      <a:r>
                        <a:t>Dominant 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Pull intensity 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Hosted pool at end of horizon (× baseline)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Share of hosted researchers at end of horizon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Effective number of regions at end of horizon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Regions below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Field hit stock at end of horizon (× baseline)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γ* 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γ* dominant region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China-centred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 (fitted model)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4.47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China-centred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 (fitted model)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3.46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China-centred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 (fitted model)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2.48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China-centred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2.18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 (fitted model)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1.80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China-centred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2.55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 (fitted model)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1.45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United States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not reached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United States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not reached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United States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2.76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not reached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United States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3.87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5.42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United States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4.92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3.01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Supplementary Figure S1: Observed and projected transition rates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pic>
        <p:nvPicPr>
          <p:cNvPr id="5" name="Picture 4" descr="annual_rates_by_gro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9144000" cy="791904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71600" y="54864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Solid lines mark observed 2000-2016 rates; dashed lines mark projected 2017-2026 rates.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Supplementary Figure S2: Cross-region abroad author-years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pic>
        <p:nvPicPr>
          <p:cNvPr id="5" name="Picture 4" descr="annual_interciv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9144000" cy="741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71600" y="54864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Rows are origin macro-regions; columns are destination macro-regions approximated by recent_group. Same-region cells and Unknown destinations are excluded.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Supplementary Figure S3: Observed vs projected compartment counts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pic>
        <p:nvPicPr>
          <p:cNvPr id="5" name="Picture 4" descr="annual_projection_vs_observ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9144000" cy="583215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71600" y="54864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Solid lines are observed counts; dashed lines are 2017-2026 projections. The vertical dotted line is 2016.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Supplementary Table S4: Mean observed annual transition rates, 2000-2016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8961119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59"/>
                <a:gridCol w="1280159"/>
                <a:gridCol w="1280159"/>
                <a:gridCol w="1280159"/>
                <a:gridCol w="1280159"/>
                <a:gridCol w="1280159"/>
                <a:gridCol w="1280165"/>
              </a:tblGrid>
              <a:tr h="548640">
                <a:tc>
                  <a:txBody>
                    <a:bodyPr/>
                    <a:lstStyle/>
                    <a:p>
                      <a:r>
                        <a:t>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h_D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p_D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I_total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Anglosphere ex-US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0.011625124450015864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0.03411253799743315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0.04616211641533843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0.0873092000485382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0.0456012888273175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3771.8823529411766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China-centred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0.0069463267399030824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0.027227975340917476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0.025975223591736964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0.09085321057400796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0.0336695344484046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11179.470588235294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Continental Europe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0.006761991119387412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0.035799512585035644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0.05094340242156166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0.09422625853124332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0.0458472850546197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9935.941176470587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Islamic world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0.012666046927368129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0.038401582840796256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0.025445116702978474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0.09498790956874537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0.0300792155414555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3002.529411764706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Japan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0.006917679672886924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0.037602085739115054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0.02367889326887788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0.06960468807321192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0.0552190245713187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1882.764705882353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Other Western (Israel)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0.014804380291716199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0.033386940704236284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0.05892906512509506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0.06798731834845337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0.0442928225810436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258.6470588235294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Other regions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0.009174917967806347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0.034841303799186506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0.025794413969593047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0.07781467004902813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0.0418088008437154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2955.294117647059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South Asia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0.008630402595531753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0.03299680283228205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0.02691431106611553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0.08241584203083246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0.0277057844536427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1651.1176470588234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United States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0.008529718608775006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0.03333905686691644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0.04663252635534043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0.08645751258990873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0.0459350067675392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7929.823529411765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Supplementary Table S5: Top origin-destination abroad author-year pairs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5486400" cy="603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/>
                    <a:lstStyle/>
                    <a:p>
                      <a:r>
                        <a:t>Origin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Destination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Author-years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United States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China-centred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52689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United States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Continental Europe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21968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Anglosphere ex-US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China-centred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20534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China-centred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United States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18505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Continental Europe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Anglosphere ex-US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18156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United States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Anglosphere ex-US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17719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Continental Europe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United States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15459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Anglosphere ex-US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Continental Europe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15003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Anglosphere ex-US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United States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14422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Continental Europe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China-centred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10535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Supplementary Table S2: Projection accuracy by research macro-region, 2017-2023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20116800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  <a:gridCol w="2011680"/>
                <a:gridCol w="2011680"/>
                <a:gridCol w="2011680"/>
                <a:gridCol w="2011680"/>
                <a:gridCol w="2011680"/>
                <a:gridCol w="2011680"/>
                <a:gridCol w="2011680"/>
              </a:tblGrid>
              <a:tr h="548640">
                <a:tc>
                  <a:txBody>
                    <a:bodyPr/>
                    <a:lstStyle/>
                    <a:p>
                      <a:r>
                        <a:t>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direction_agreement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threshold_alarm_accuracy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threshold_alarm_sensitivity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threshold_alarm_specificity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threshold_alarm_precision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threshold_alarms_obs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threshold_alarms_proj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Anglosphere ex-US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3544.26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86.2%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0.1944444444444444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Continental Europe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11674.84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0.1944444444444444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South Asia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7915.72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188.4%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0.1666666666666666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Islamic world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16757.46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273.0%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0.2222222222222222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Japan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1677.63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69.9%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0.2777777777777778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Other regions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6149.73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132.4%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0.1666666666666666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Other Western (Israel)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256.88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0.2777777777777778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0.2857142857142857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China-centred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18771.59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132.3%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0.1944444444444444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United States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7013.54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77.4%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Supplementary Table S3: Projection accuracy by compartment, 2017-2023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80467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  <a:gridCol w="2011680"/>
              </a:tblGrid>
              <a:tr h="548640">
                <a:tc>
                  <a:txBody>
                    <a:bodyPr/>
                    <a:lstStyle/>
                    <a:p>
                      <a:r>
                        <a:t>Compartment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direction_agreement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849.47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215.1%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0.074074074074074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19801.25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263.3%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0.0185185185185185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H_A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394.83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0.3888888888888889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H_D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8094.10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171.6%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0.0925925925925925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P_A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1744.50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0.2592592592592592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P_D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12709.83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37.7%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0.4629629629629629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Supplementary Table S6: Bootstrap 95% CI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10058400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  <a:gridCol w="2011680"/>
                <a:gridCol w="2011680"/>
              </a:tblGrid>
              <a:tr h="548640">
                <a:tc>
                  <a:txBody>
                    <a:bodyPr/>
                    <a:lstStyle/>
                    <a:p>
                      <a:r>
                        <a:t>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 median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 95% CI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P_D 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P_D 95% CI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Anglosphere ex-US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67546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[66728, 68334]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29814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[29158, 30486]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Continental Europe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195077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[193718, 196316]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83476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[82421, 84527]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South Asia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53407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[52402, 54515]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30277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[29348, 31258]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Islamic world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88428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[87356, 89880]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47264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[46155, 48511]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Japan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29372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[28932, 29757]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7387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[7128, 7662]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Other regions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59396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[58590, 60178]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22326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[21715, 22975]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Other Western (Israel)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4829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[4602, 5077]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2163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[1981, 2370]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China-centred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303843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[301809, 305720]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133015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[131418, 134567]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United States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146991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[145947, 148235]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63906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[62994, 64906]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